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Outfit Extra Bold"/>
      <p:regular r:id="rId15"/>
    </p:embeddedFont>
    <p:embeddedFont>
      <p:font typeface="Arimo"/>
      <p:regular r:id="rId16"/>
    </p:embeddedFont>
    <p:embeddedFont>
      <p:font typeface="Arimo"/>
      <p:regular r:id="rId17"/>
    </p:embeddedFont>
    <p:embeddedFont>
      <p:font typeface="Arimo"/>
      <p:regular r:id="rId18"/>
    </p:embeddedFont>
    <p:embeddedFont>
      <p:font typeface="Arim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368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A.R.T.E.M.I.S.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858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Autonomous Radar &amp; Thermal Engine for Monitoring Illegal Smuggling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667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Advanced Ecological &amp; Border Integrity — where defense technology meets conservation imperative.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7344" y="624245"/>
            <a:ext cx="2179082" cy="332303"/>
          </a:xfrm>
          <a:prstGeom prst="roundRect">
            <a:avLst>
              <a:gd name="adj" fmla="val 18993"/>
            </a:avLst>
          </a:prstGeom>
          <a:solidFill>
            <a:srgbClr val="D7D2F9"/>
          </a:solidFill>
          <a:ln/>
        </p:spPr>
      </p:sp>
      <p:sp>
        <p:nvSpPr>
          <p:cNvPr id="4" name="Text 1"/>
          <p:cNvSpPr/>
          <p:nvPr/>
        </p:nvSpPr>
        <p:spPr>
          <a:xfrm>
            <a:off x="769977" y="680561"/>
            <a:ext cx="1953816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 SDG 15 · LIFE ON LAND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7344" y="1018699"/>
            <a:ext cx="7183279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Problem that needs to be solved !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657344" y="1994416"/>
            <a:ext cx="3685580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Scale of Illegal Wildlife Trafficking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7344" y="2736890"/>
            <a:ext cx="3685580" cy="1648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Wildlife trafficking is the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4th largest criminal enterprise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globally — generating $23B annually. Every year, thousands of endangered species are poached, logged, or displaced as protected forest borders go unwatched.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7344" y="4524851"/>
            <a:ext cx="3685580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SDG 15 demands urgent technological intervention to halt biodiversity collapse and restore sovereignty over protected ecosystems.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808696" y="2013823"/>
            <a:ext cx="3685580" cy="1701879"/>
          </a:xfrm>
          <a:prstGeom prst="roundRect">
            <a:avLst>
              <a:gd name="adj" fmla="val 6447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85836" y="2013823"/>
            <a:ext cx="91440" cy="1701879"/>
          </a:xfrm>
          <a:prstGeom prst="roundRect">
            <a:avLst>
              <a:gd name="adj" fmla="val 86279"/>
            </a:avLst>
          </a:prstGeom>
          <a:solidFill>
            <a:srgbClr val="5E4CE6"/>
          </a:solidFill>
          <a:ln/>
        </p:spPr>
      </p:sp>
      <p:sp>
        <p:nvSpPr>
          <p:cNvPr id="11" name="Text 8"/>
          <p:cNvSpPr/>
          <p:nvPr/>
        </p:nvSpPr>
        <p:spPr>
          <a:xfrm>
            <a:off x="5087898" y="2224445"/>
            <a:ext cx="234791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🦏</a:t>
            </a:r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Species at Risk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87898" y="2681049"/>
            <a:ext cx="3195757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 8,000 species face extinction pressure driven by illegal trafficking and habitat destruction.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808696" y="3871198"/>
            <a:ext cx="3685580" cy="1701879"/>
          </a:xfrm>
          <a:prstGeom prst="roundRect">
            <a:avLst>
              <a:gd name="adj" fmla="val 6447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85836" y="3871198"/>
            <a:ext cx="91440" cy="1701879"/>
          </a:xfrm>
          <a:prstGeom prst="roundRect">
            <a:avLst>
              <a:gd name="adj" fmla="val 86279"/>
            </a:avLst>
          </a:prstGeom>
          <a:solidFill>
            <a:srgbClr val="5E4CE6"/>
          </a:solidFill>
          <a:ln/>
        </p:spPr>
      </p:sp>
      <p:sp>
        <p:nvSpPr>
          <p:cNvPr id="15" name="Text 12"/>
          <p:cNvSpPr/>
          <p:nvPr/>
        </p:nvSpPr>
        <p:spPr>
          <a:xfrm>
            <a:off x="5087898" y="4081820"/>
            <a:ext cx="234791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🌳</a:t>
            </a:r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Illegal Logging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087898" y="4538424"/>
            <a:ext cx="3195757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15–30% of global timber trade is illegal, stripping critical carbon sinks and wildlife corridors.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808696" y="5728573"/>
            <a:ext cx="3685580" cy="1701879"/>
          </a:xfrm>
          <a:prstGeom prst="roundRect">
            <a:avLst>
              <a:gd name="adj" fmla="val 6447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85836" y="5728573"/>
            <a:ext cx="91440" cy="1701879"/>
          </a:xfrm>
          <a:prstGeom prst="roundRect">
            <a:avLst>
              <a:gd name="adj" fmla="val 86279"/>
            </a:avLst>
          </a:prstGeom>
          <a:solidFill>
            <a:srgbClr val="5E4CE6"/>
          </a:solidFill>
          <a:ln/>
        </p:spPr>
      </p:sp>
      <p:sp>
        <p:nvSpPr>
          <p:cNvPr id="19" name="Text 16"/>
          <p:cNvSpPr/>
          <p:nvPr/>
        </p:nvSpPr>
        <p:spPr>
          <a:xfrm>
            <a:off x="5087898" y="5939195"/>
            <a:ext cx="2347912" cy="301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🚨</a:t>
            </a:r>
            <a:pPr algn="l"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Enforcement Gap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87898" y="6395799"/>
            <a:ext cx="3195757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Vast protected zones remain effectively unmonitored — rangers are outnumbered and under-resourced.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0475"/>
            <a:ext cx="1627465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16079"/>
            <a:ext cx="134004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72684"/>
            <a:ext cx="70571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A.R.T.E.M.I.S. Solution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5216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dual-spectrum detection engine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purpose-built to secure ecological borders — day and night, in any terrain.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39678"/>
            <a:ext cx="3700105" cy="2286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5709999"/>
            <a:ext cx="35956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Ultrasonic Spatial Mapping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6200418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High-frequency acoustic pulses create a real-time 3D spatial map of the environment — detecting movement, mass, and proximity with zero-latency 180° coverage.</a:t>
            </a:r>
            <a:endParaRPr lang="en-US" sz="1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3139678"/>
            <a:ext cx="3700224" cy="22868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56884" y="5709999"/>
            <a:ext cx="40618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High-Fidelity Thermal Imaging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56884" y="6200418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Infrared bio-signature detection isolates human thermal radiation from ambient environmental noise — enabling positive target identification regardless of visual concealment.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460" y="566618"/>
            <a:ext cx="2023229" cy="308253"/>
          </a:xfrm>
          <a:prstGeom prst="roundRect">
            <a:avLst>
              <a:gd name="adj" fmla="val 19316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1307783" y="619720"/>
            <a:ext cx="1810583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TACTICAL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01460" y="930235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System Architecture</a:t>
            </a:r>
            <a:endParaRPr lang="en-US" sz="3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460" y="3216473"/>
            <a:ext cx="6310551" cy="29216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37727" y="1847374"/>
            <a:ext cx="3998595" cy="1794391"/>
          </a:xfrm>
          <a:prstGeom prst="roundRect">
            <a:avLst>
              <a:gd name="adj" fmla="val 414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22512" y="203215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Perception Layer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22512" y="2447330"/>
            <a:ext cx="36290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Ultrasonic sensors sweep a continuous 180° arc, delivering sub-millisecond spatial awareness with no blind spots and no light dependency.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437727" y="3780115"/>
            <a:ext cx="3998595" cy="1794391"/>
          </a:xfrm>
          <a:prstGeom prst="roundRect">
            <a:avLst>
              <a:gd name="adj" fmla="val 414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22512" y="396490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Intelligence Layer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22512" y="4380071"/>
            <a:ext cx="36290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JavaScript-driven "Instant-Reset" state logic processes sensor feeds in real time — classifying, flagging, and escalating threats autonomously.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437727" y="5712857"/>
            <a:ext cx="3998595" cy="1794391"/>
          </a:xfrm>
          <a:prstGeom prst="roundRect">
            <a:avLst>
              <a:gd name="adj" fmla="val 414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22512" y="5897642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Optics Layer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622512" y="6312813"/>
            <a:ext cx="3629025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surveillance integration captures timestamped visual evidence, automatically logging events for legal enforcement and chain-of-custody integrity.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05776" y="633413"/>
            <a:ext cx="1942624" cy="373856"/>
          </a:xfrm>
          <a:prstGeom prst="roundRect">
            <a:avLst>
              <a:gd name="adj" fmla="val 18475"/>
            </a:avLst>
          </a:prstGeom>
          <a:solidFill>
            <a:srgbClr val="D7D2F9"/>
          </a:solidFill>
          <a:ln/>
        </p:spPr>
      </p:sp>
      <p:sp>
        <p:nvSpPr>
          <p:cNvPr id="4" name="Text 1"/>
          <p:cNvSpPr/>
          <p:nvPr/>
        </p:nvSpPr>
        <p:spPr>
          <a:xfrm>
            <a:off x="6329005" y="694968"/>
            <a:ext cx="1696164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FEATURE HIGHLIGHT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05776" y="1081683"/>
            <a:ext cx="7705249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Thermal Bio-Signature Detection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205776" y="2645688"/>
            <a:ext cx="7705249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A.R.T.E.M.I.S. renders the invisible visible. Its heat-mapping engine reconstructs humanoid biological radiation as a full-body thermal profile — distinguishing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human intruders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from wildlife, foliage, and environmental interference with high-confidence classification.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05776" y="4109204"/>
            <a:ext cx="3759518" cy="1807131"/>
          </a:xfrm>
          <a:prstGeom prst="roundRect">
            <a:avLst>
              <a:gd name="adj" fmla="val 477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8898" y="4322326"/>
            <a:ext cx="2569488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🔴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Threat Signature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18898" y="4762738"/>
            <a:ext cx="3333274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Human core temp (36–37°C) flagged against ambient baseline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51507" y="4109204"/>
            <a:ext cx="3759518" cy="1807131"/>
          </a:xfrm>
          <a:prstGeom prst="roundRect">
            <a:avLst>
              <a:gd name="adj" fmla="val 4778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64629" y="4322326"/>
            <a:ext cx="2569488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🟡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Noise Rejection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364629" y="4762738"/>
            <a:ext cx="3333274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Animal and plant signatures filtered via multi-frame thermal delta analysis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5776" y="6102548"/>
            <a:ext cx="7705249" cy="1493639"/>
          </a:xfrm>
          <a:prstGeom prst="roundRect">
            <a:avLst>
              <a:gd name="adj" fmla="val 578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18898" y="6315670"/>
            <a:ext cx="273617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🔵</a:t>
            </a:r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Zero False Positives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18898" y="6756083"/>
            <a:ext cx="7279005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Layered confirmation protocols prevent spurious alerts in high-biodiversity zones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99229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Demo screenshots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014" y="1285994"/>
            <a:ext cx="11738253" cy="64442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2" y="718304"/>
            <a:ext cx="1356836" cy="415052"/>
          </a:xfrm>
          <a:prstGeom prst="roundRect">
            <a:avLst>
              <a:gd name="adj" fmla="val 17502"/>
            </a:avLst>
          </a:prstGeom>
          <a:noFill/>
          <a:ln w="7620">
            <a:solidFill>
              <a:srgbClr val="5E4C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3921" y="790694"/>
            <a:ext cx="1082278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TECH STACK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6642" y="1215747"/>
            <a:ext cx="839069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Built on Proven, Open Technology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756642" y="2200513"/>
            <a:ext cx="1311711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A.R.T.E.M.I.S. is engineered on accessible, battle-tested technologies — ensuring rapid deployment, global replicability, and low infrastructure cost.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6642" y="3107888"/>
            <a:ext cx="432316" cy="4323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6642" y="379773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HTML5 / CSS3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56642" y="4259104"/>
            <a:ext cx="64297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Advanced UI rendering with glassmorphic dashboards, real-time data visualization, and responsive field-operator interfaces.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3907" y="3107888"/>
            <a:ext cx="432316" cy="4323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43907" y="379773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JavaScript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7443907" y="4259104"/>
            <a:ext cx="6429851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Canvas-based spatial rendering engine with Instant-Reset state logic for real-time threat analysis and event-driven alert escalation.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642" y="5346740"/>
            <a:ext cx="432316" cy="4323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6642" y="6036588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Hardware Telemetry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756642" y="6497955"/>
            <a:ext cx="642973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Simulated MPU6050 inertial data and ultrasonic ranging — bridging the gap between software logic and deployable field hardware.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3907" y="5346740"/>
            <a:ext cx="432316" cy="4323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43907" y="6036588"/>
            <a:ext cx="277772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Thermal Sensor Layer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7443907" y="6497955"/>
            <a:ext cx="6429851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Integrated infrared capture pipeline with bio-signature normalization, frame-delta processing, and automated evidence archiving.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6993" y="589598"/>
            <a:ext cx="2478881" cy="365522"/>
          </a:xfrm>
          <a:prstGeom prst="roundRect">
            <a:avLst>
              <a:gd name="adj" fmla="val 18570"/>
            </a:avLst>
          </a:prstGeom>
          <a:solidFill>
            <a:srgbClr val="D7D2F9"/>
          </a:solidFill>
          <a:ln/>
        </p:spPr>
      </p:sp>
      <p:sp>
        <p:nvSpPr>
          <p:cNvPr id="3" name="Text 1"/>
          <p:cNvSpPr/>
          <p:nvPr/>
        </p:nvSpPr>
        <p:spPr>
          <a:xfrm>
            <a:off x="828199" y="650200"/>
            <a:ext cx="2236470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IMPACT &amp; FUTURE HORIZON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06993" y="1027033"/>
            <a:ext cx="829782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From Prototype to Planetary Shield</a:t>
            </a:r>
            <a:endParaRPr lang="en-US" sz="3950" dirty="0"/>
          </a:p>
        </p:txBody>
      </p:sp>
      <p:sp>
        <p:nvSpPr>
          <p:cNvPr id="5" name="Text 3"/>
          <p:cNvSpPr/>
          <p:nvPr/>
        </p:nvSpPr>
        <p:spPr>
          <a:xfrm>
            <a:off x="706993" y="1928098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A.R.T.E.M.I.S. is not a product — it is a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scalable doctrine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ecological defense. The roadmap moves from pilot deployment to a globally distributed mesh protecting every critical biome on Earth.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03770" y="2741533"/>
            <a:ext cx="22860" cy="4898469"/>
          </a:xfrm>
          <a:prstGeom prst="roundRect">
            <a:avLst>
              <a:gd name="adj" fmla="val 371163"/>
            </a:avLst>
          </a:prstGeom>
          <a:solidFill>
            <a:srgbClr val="BDB8DF"/>
          </a:solidFill>
          <a:ln/>
        </p:spPr>
      </p:sp>
      <p:sp>
        <p:nvSpPr>
          <p:cNvPr id="7" name="Shape 5"/>
          <p:cNvSpPr/>
          <p:nvPr/>
        </p:nvSpPr>
        <p:spPr>
          <a:xfrm>
            <a:off x="6504801" y="2957274"/>
            <a:ext cx="606028" cy="22860"/>
          </a:xfrm>
          <a:prstGeom prst="roundRect">
            <a:avLst>
              <a:gd name="adj" fmla="val 371163"/>
            </a:avLst>
          </a:prstGeom>
          <a:solidFill>
            <a:srgbClr val="BDB8DF"/>
          </a:solidFill>
          <a:ln/>
        </p:spPr>
      </p:sp>
      <p:sp>
        <p:nvSpPr>
          <p:cNvPr id="8" name="Shape 6"/>
          <p:cNvSpPr/>
          <p:nvPr/>
        </p:nvSpPr>
        <p:spPr>
          <a:xfrm>
            <a:off x="7087969" y="2741533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63633" y="2779335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3779996" y="281094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Phase 1 — Pilot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06993" y="3234452"/>
            <a:ext cx="5598200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Deploy sentinel nodes across two high-threat national park borders. Validate detection accuracy and false-positive rates in live terrain.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519571" y="4125039"/>
            <a:ext cx="606028" cy="22860"/>
          </a:xfrm>
          <a:prstGeom prst="roundRect">
            <a:avLst>
              <a:gd name="adj" fmla="val 371163"/>
            </a:avLst>
          </a:prstGeom>
          <a:solidFill>
            <a:srgbClr val="BDB8DF"/>
          </a:solidFill>
          <a:ln/>
        </p:spPr>
      </p:sp>
      <p:sp>
        <p:nvSpPr>
          <p:cNvPr id="13" name="Shape 11"/>
          <p:cNvSpPr/>
          <p:nvPr/>
        </p:nvSpPr>
        <p:spPr>
          <a:xfrm>
            <a:off x="7087969" y="3909298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3633" y="3947100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8325207" y="3978712"/>
            <a:ext cx="286488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Phase 2 — AI Integration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325207" y="4402217"/>
            <a:ext cx="5598200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Layer machine-learning species identification — distinguishing protected fauna from human threats in real time with edge-compute AI.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04801" y="5147667"/>
            <a:ext cx="606028" cy="22860"/>
          </a:xfrm>
          <a:prstGeom prst="roundRect">
            <a:avLst>
              <a:gd name="adj" fmla="val 371163"/>
            </a:avLst>
          </a:prstGeom>
          <a:solidFill>
            <a:srgbClr val="BDB8DF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7969" y="4931926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63633" y="4969728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350" dirty="0"/>
          </a:p>
        </p:txBody>
      </p:sp>
      <p:sp>
        <p:nvSpPr>
          <p:cNvPr id="20" name="Text 18"/>
          <p:cNvSpPr/>
          <p:nvPr/>
        </p:nvSpPr>
        <p:spPr>
          <a:xfrm>
            <a:off x="3178016" y="5001339"/>
            <a:ext cx="312717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Phase 3 — Drone Response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06993" y="5424845"/>
            <a:ext cx="5598200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Autonomous drone-intercept protocols activated on confirmed intrusion — providing visual confirmation and deterrence without human risk.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519571" y="6170295"/>
            <a:ext cx="606028" cy="22860"/>
          </a:xfrm>
          <a:prstGeom prst="roundRect">
            <a:avLst>
              <a:gd name="adj" fmla="val 371163"/>
            </a:avLst>
          </a:prstGeom>
          <a:solidFill>
            <a:srgbClr val="BDB8DF"/>
          </a:solidFill>
          <a:ln/>
        </p:spPr>
      </p:sp>
      <p:sp>
        <p:nvSpPr>
          <p:cNvPr id="23" name="Shape 21"/>
          <p:cNvSpPr/>
          <p:nvPr/>
        </p:nvSpPr>
        <p:spPr>
          <a:xfrm>
            <a:off x="7087969" y="5954554"/>
            <a:ext cx="454462" cy="454462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3633" y="5992356"/>
            <a:ext cx="303014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350" dirty="0"/>
          </a:p>
        </p:txBody>
      </p:sp>
      <p:sp>
        <p:nvSpPr>
          <p:cNvPr id="25" name="Text 23"/>
          <p:cNvSpPr/>
          <p:nvPr/>
        </p:nvSpPr>
        <p:spPr>
          <a:xfrm>
            <a:off x="8325207" y="6023967"/>
            <a:ext cx="2695575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Phase 4 — Global Mesh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8325207" y="6447473"/>
            <a:ext cx="5598200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Interconnected sensor networks across national parks, UNESCO heritage zones, and sovereign border corridors — a living, breathing planetary immune system.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2026-04-25T07:39:05Z</dcterms:created>
  <dcterms:modified xsi:type="dcterms:W3CDTF">2026-04-25T07:39:05Z</dcterms:modified>
</cp:coreProperties>
</file>